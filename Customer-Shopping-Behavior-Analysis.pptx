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7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8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Uncovering insights from 3,900 purchases to drive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7910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54856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3,900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900113" y="36866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177070"/>
            <a:ext cx="30480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Transactions analyzed across all categories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25278" y="2654856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18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4231719" y="36866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Points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25278" y="4177070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Columns tracking customer behavior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456884" y="2654856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50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7563326" y="36866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Locations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56884" y="4177070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Geographic coverage nationwide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788491" y="2654856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25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10894933" y="36866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88491" y="4177070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 items purchased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5384840"/>
            <a:ext cx="34476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Demographics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93790" y="596598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Age, Gender, Location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93790" y="640818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 Status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599521" y="53848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Shopping Behavior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599521" y="596598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Purchase patterns &amp; frequency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599521" y="640818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 usage &amp; ratings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06421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Preparation Journey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dataset using pandas for analysis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Checked structure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31038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Imputed 37 missing review ratings using median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age groups and purchase frequency columns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28910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 to PostgreSQL for SQL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Insights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10076"/>
            <a:ext cx="7604284" cy="42583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59096" y="2481739"/>
            <a:ext cx="29123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Gender Revenue Gap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 customers generate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2.1x more revenue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than female customers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959096" y="3992761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Opportunity to boost female customer engagement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924" y="570786"/>
            <a:ext cx="5514856" cy="648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Discount Users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2679978" y="2981801"/>
            <a:ext cx="2551271" cy="518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50"/>
              </a:lnSpc>
              <a:buNone/>
            </a:pPr>
            <a:r>
              <a:rPr lang="en-US" sz="4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839</a:t>
            </a:r>
            <a:endParaRPr lang="en-US" sz="4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0062" y="1685449"/>
            <a:ext cx="3111341" cy="31113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0847" y="5055989"/>
            <a:ext cx="3889772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High-Value Discount Shoppers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25924" y="5504498"/>
            <a:ext cx="6459617" cy="331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using discounts while spending above average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398794" y="2981801"/>
            <a:ext cx="2551271" cy="518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50"/>
              </a:lnSpc>
              <a:buNone/>
            </a:pPr>
            <a:r>
              <a:rPr lang="en-US" sz="4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21.5%</a:t>
            </a:r>
            <a:endParaRPr lang="en-US" sz="4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8878" y="1685449"/>
            <a:ext cx="3111341" cy="311134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78196" y="5055989"/>
            <a:ext cx="2592824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Percentage of Total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7444740" y="5504498"/>
            <a:ext cx="6459736" cy="331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discount users who maximize value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25924" y="6276975"/>
            <a:ext cx="2592824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Finding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725924" y="6808470"/>
            <a:ext cx="6336268" cy="663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Discounts don't always mean lower revenue—many high spenders use promotions strategically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575828" y="6276975"/>
            <a:ext cx="2592824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Impact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7575828" y="6808470"/>
            <a:ext cx="6336268" cy="663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 policy should balance sales volume with margin protection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5813" y="617458"/>
            <a:ext cx="5613440" cy="701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Top-Rated Products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85813" y="1768078"/>
            <a:ext cx="4203263" cy="2206704"/>
          </a:xfrm>
          <a:prstGeom prst="roundRect">
            <a:avLst>
              <a:gd name="adj" fmla="val 427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7865" y="2000131"/>
            <a:ext cx="673537" cy="673537"/>
          </a:xfrm>
          <a:prstGeom prst="roundRect">
            <a:avLst>
              <a:gd name="adj" fmla="val 13574734"/>
            </a:avLst>
          </a:prstGeom>
          <a:solidFill>
            <a:srgbClr val="4950B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3127" y="2185273"/>
            <a:ext cx="303014" cy="3030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7865" y="2898100"/>
            <a:ext cx="2806660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Gloves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17865" y="3383518"/>
            <a:ext cx="3739158" cy="359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3.86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average rating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3509" y="1768078"/>
            <a:ext cx="4203263" cy="2206704"/>
          </a:xfrm>
          <a:prstGeom prst="roundRect">
            <a:avLst>
              <a:gd name="adj" fmla="val 427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45562" y="2000131"/>
            <a:ext cx="673537" cy="673537"/>
          </a:xfrm>
          <a:prstGeom prst="roundRect">
            <a:avLst>
              <a:gd name="adj" fmla="val 13574734"/>
            </a:avLst>
          </a:prstGeom>
          <a:solidFill>
            <a:srgbClr val="4950B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0823" y="2185273"/>
            <a:ext cx="303014" cy="30301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5562" y="2898100"/>
            <a:ext cx="2806660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Sandals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45562" y="3383518"/>
            <a:ext cx="3739158" cy="359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3.84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average rating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1205" y="1768078"/>
            <a:ext cx="4203383" cy="2206704"/>
          </a:xfrm>
          <a:prstGeom prst="roundRect">
            <a:avLst>
              <a:gd name="adj" fmla="val 427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73258" y="2000131"/>
            <a:ext cx="673537" cy="673537"/>
          </a:xfrm>
          <a:prstGeom prst="roundRect">
            <a:avLst>
              <a:gd name="adj" fmla="val 13574734"/>
            </a:avLst>
          </a:prstGeom>
          <a:solidFill>
            <a:srgbClr val="4950B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8519" y="2185273"/>
            <a:ext cx="303014" cy="30301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3258" y="2898100"/>
            <a:ext cx="2806660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Boots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3258" y="3383518"/>
            <a:ext cx="3739277" cy="359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3.82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average rating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85813" y="4199215"/>
            <a:ext cx="6417112" cy="2206704"/>
          </a:xfrm>
          <a:prstGeom prst="roundRect">
            <a:avLst>
              <a:gd name="adj" fmla="val 427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17865" y="4431268"/>
            <a:ext cx="673537" cy="673537"/>
          </a:xfrm>
          <a:prstGeom prst="roundRect">
            <a:avLst>
              <a:gd name="adj" fmla="val 13574734"/>
            </a:avLst>
          </a:prstGeom>
          <a:solidFill>
            <a:srgbClr val="4950B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3127" y="4616410"/>
            <a:ext cx="303014" cy="30301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17865" y="5329238"/>
            <a:ext cx="2806660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Hat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1017865" y="5814655"/>
            <a:ext cx="5953006" cy="359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3.80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average rating</a:t>
            </a:r>
            <a:endParaRPr lang="en-US" sz="1750" dirty="0"/>
          </a:p>
        </p:txBody>
      </p:sp>
      <p:sp>
        <p:nvSpPr>
          <p:cNvPr id="23" name="Shape 17"/>
          <p:cNvSpPr/>
          <p:nvPr/>
        </p:nvSpPr>
        <p:spPr>
          <a:xfrm>
            <a:off x="7427357" y="4199215"/>
            <a:ext cx="6417231" cy="2206704"/>
          </a:xfrm>
          <a:prstGeom prst="roundRect">
            <a:avLst>
              <a:gd name="adj" fmla="val 427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659410" y="4431268"/>
            <a:ext cx="673537" cy="673537"/>
          </a:xfrm>
          <a:prstGeom prst="roundRect">
            <a:avLst>
              <a:gd name="adj" fmla="val 13574734"/>
            </a:avLst>
          </a:prstGeom>
          <a:solidFill>
            <a:srgbClr val="4950BC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44671" y="4616410"/>
            <a:ext cx="303014" cy="30301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59410" y="5329238"/>
            <a:ext cx="2806660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Skirt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7659410" y="5814655"/>
            <a:ext cx="5953125" cy="359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3.78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average rating</a:t>
            </a:r>
            <a:endParaRPr lang="en-US" sz="1750" dirty="0"/>
          </a:p>
        </p:txBody>
      </p:sp>
      <p:sp>
        <p:nvSpPr>
          <p:cNvPr id="28" name="Shape 21"/>
          <p:cNvSpPr/>
          <p:nvPr/>
        </p:nvSpPr>
        <p:spPr>
          <a:xfrm>
            <a:off x="785813" y="6658451"/>
            <a:ext cx="13058775" cy="953929"/>
          </a:xfrm>
          <a:prstGeom prst="roundRect">
            <a:avLst>
              <a:gd name="adj" fmla="val 9886"/>
            </a:avLst>
          </a:prstGeom>
          <a:solidFill>
            <a:srgbClr val="C7C9E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0245" y="7001589"/>
            <a:ext cx="280630" cy="224433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515308" y="6938963"/>
            <a:ext cx="12104846" cy="359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Opportunity: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Highlight these top-rated products in campaigns to drive conversions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67370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94892" y="3025616"/>
            <a:ext cx="318968" cy="3189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57217" y="2596634"/>
            <a:ext cx="14708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New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357217" y="3087053"/>
            <a:ext cx="147089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 customers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C0C1D7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94892" y="4227314"/>
            <a:ext cx="318968" cy="31896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33304" y="3960257"/>
            <a:ext cx="15506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6433304" y="4450675"/>
            <a:ext cx="15506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701 customers</a:t>
            </a:r>
            <a:endParaRPr lang="en-US" sz="1750" dirty="0"/>
          </a:p>
        </p:txBody>
      </p:sp>
      <p:sp>
        <p:nvSpPr>
          <p:cNvPr id="12" name="Shape 6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C0C1D7"/>
          </a:solidFill>
          <a:ln/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94773" y="5590937"/>
            <a:ext cx="318968" cy="31896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509272" y="5323880"/>
            <a:ext cx="16962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Loyal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509272" y="5814298"/>
            <a:ext cx="169628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3,116 customers</a:t>
            </a:r>
            <a:endParaRPr lang="en-US" sz="1750" dirty="0"/>
          </a:p>
        </p:txBody>
      </p:sp>
      <p:sp>
        <p:nvSpPr>
          <p:cNvPr id="17" name="Text 9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80% of customers are loyal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strong retention foundation with opportunity to convert returning customers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64538"/>
            <a:ext cx="60684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Subscription Analysis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402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Subscribers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92143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1,053 customers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36363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$59.49 average spend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80583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$62,645 total revenue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23402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Non-Subscribers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292143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2,847 customers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336363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$59.87 average spend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380583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$170,436 total revenue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616529"/>
            <a:ext cx="12279868" cy="283488"/>
          </a:xfrm>
          <a:prstGeom prst="roundRect">
            <a:avLst>
              <a:gd name="adj" fmla="val 3360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3790" y="4616529"/>
            <a:ext cx="3806666" cy="283488"/>
          </a:xfrm>
          <a:prstGeom prst="roundRect">
            <a:avLst>
              <a:gd name="adj" fmla="val 33606"/>
            </a:avLst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13243679" y="4616529"/>
            <a:ext cx="59293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31%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183386"/>
            <a:ext cx="46697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Repeat Buyers with Subscriptions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93790" y="567380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958 of 3,116 loyal customers subscribe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1133951" y="6547009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Massive opportunity: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69% of loyal customers don't subscribe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93790" y="6291858"/>
            <a:ext cx="30480" cy="873204"/>
          </a:xfrm>
          <a:prstGeom prst="rect">
            <a:avLst/>
          </a:prstGeom>
          <a:solidFill>
            <a:srgbClr val="4950BC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2213" y="441722"/>
            <a:ext cx="4462820" cy="501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by Age Group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213" y="1264920"/>
            <a:ext cx="13505974" cy="75633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2213" y="9008864"/>
            <a:ext cx="13505974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Young adults drive highest revenue—target marketing efforts toward this demographic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9310"/>
            <a:ext cx="78269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Recommendations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11718"/>
            <a:ext cx="4196358" cy="2448044"/>
          </a:xfrm>
          <a:prstGeom prst="roundRect">
            <a:avLst>
              <a:gd name="adj" fmla="val 597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311718"/>
            <a:ext cx="121920" cy="2448044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5690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059430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Promote exclusive benefits to convert 2,158 loyal non-subscribers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2311718"/>
            <a:ext cx="4196358" cy="2448044"/>
          </a:xfrm>
          <a:prstGeom prst="roundRect">
            <a:avLst>
              <a:gd name="adj" fmla="val 597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6482" y="2311718"/>
            <a:ext cx="121920" cy="2448044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5565696" y="2569012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Loyalty Programs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3413760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Reward repeat buyers to accelerate movement into loyal segment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2311718"/>
            <a:ext cx="4196358" cy="2448044"/>
          </a:xfrm>
          <a:prstGeom prst="roundRect">
            <a:avLst>
              <a:gd name="adj" fmla="val 597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9653" y="2311718"/>
            <a:ext cx="121920" cy="2448044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9988868" y="2569012"/>
            <a:ext cx="3211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 Discount Policy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3059430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promotional sales boosts with margin control strategies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4986576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3310" y="4986576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7" name="Text 15"/>
          <p:cNvSpPr/>
          <p:nvPr/>
        </p:nvSpPr>
        <p:spPr>
          <a:xfrm>
            <a:off x="1142524" y="52438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 Positioning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2524" y="5734288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Highlight top-rated products like gloves and sandals in campaigns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5216962" y="4986576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86482" y="4986576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21" name="Text 19"/>
          <p:cNvSpPr/>
          <p:nvPr/>
        </p:nvSpPr>
        <p:spPr>
          <a:xfrm>
            <a:off x="5565696" y="52438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Targeted Marketing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65696" y="5734288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young adults and express shipping users for maximum ROI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2025-11-01T11:51:16Z</dcterms:created>
  <dcterms:modified xsi:type="dcterms:W3CDTF">2025-11-01T11:51:16Z</dcterms:modified>
</cp:coreProperties>
</file>